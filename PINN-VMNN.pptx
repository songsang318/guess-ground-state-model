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4"/>
    <p:restoredTop sz="94667"/>
  </p:normalViewPr>
  <p:slideViewPr>
    <p:cSldViewPr snapToGrid="0">
      <p:cViewPr varScale="1">
        <p:scale>
          <a:sx n="145" d="100"/>
          <a:sy n="145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B5FB6-1DDD-94BD-6A2A-D4C0085A0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430BD0-0A9C-CF71-0FDB-7BD11F164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5994F9-8435-AEAD-4496-920751BF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817C5C-B5C6-4211-E963-8BC5E0E8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FFADD-EEC5-66B0-1354-11432288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173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847E1-EA33-59A3-D89B-DFCC7EEA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3BD4A-FE19-24EF-6C87-C3E98EBC5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2E904-93B8-F432-5CA1-ACB548E8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6D18C1-ABB8-7CBE-0E5F-3671DC2D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75C4A-C183-3197-085B-18A0238A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772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EF45E-93FB-3BD2-E32D-926949DC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08783-3CCC-287C-B1DF-5A436466E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A6108-C150-A9AC-AD5C-26BE044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AA3EF-C4E7-B721-80B9-766EE60C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68552E-FD9F-7708-FC95-E2EA8C21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304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C1927-2FBA-7840-7864-DFAC50DD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A73D3-FC53-9F78-A70B-C884892DA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C92C95-A7EF-9880-2FEB-D9C7C0DFF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311749-75A2-7985-5F32-B8DD0E82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B15B1-4C16-A555-72B6-A94C3B3D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F5279A-73FE-4DC3-FC47-6582A2D8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936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871FC-4328-5E36-AC49-2521CED9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681878-BE00-782C-2213-CF41776F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6CE27-EA8E-68D7-B333-3B7018A54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31009A-9314-023F-8961-16072A186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3ACDC3-6CA2-C7AC-BC7A-BDBD6D42E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2C44B0-106A-D0C6-65CD-D7036641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6D2BFA-EBE5-C016-5060-4753AF3A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E3CE9D-4724-1DDE-D0EB-ACA8CB11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3794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091E1-17B5-5872-D2DB-3AF4F009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A38CA5-D6D7-671F-29C4-3EEC26A1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6ADF09-8B2B-72D2-3DFB-F1D67252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A84D23-D004-5EE9-827E-6D0BA53D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18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EC0C57-8AC9-F215-64F1-198BFEE5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297277-95C6-5B72-248F-4F760A24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8D3E8-E96B-90F2-C974-7D698558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868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EBA25-BF4A-3E13-CE9F-6ECD3C1E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D3703-4001-6B4F-1723-B287EF532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46E115-B1B6-DDEE-778C-255358B20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F1E222-CF47-33F6-6897-CD6E9B37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98601B-BE48-AFB2-3EC7-42C560A2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19F301-DA6F-9096-0CBB-685AFF76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6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49EB8-9DF4-15A2-FF99-C00CD6098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EB961F-02FE-5AC8-F9A2-1164F60F8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C8082E-8BAA-DF31-4BAA-7D7971E16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E1435D-26F6-7D04-C9E1-2A7E5C38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9A483-6FE4-1991-5861-4FE5A724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1510B7-13F9-994D-28A6-947255D6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880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E4FE9-099D-D05A-CD46-37436485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7FF190-C962-B610-D554-95AB9761E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9793D-9F84-75E5-F051-3D8832DA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45F345-1662-5DDD-3EFC-607D9C7B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9D2E38-F3F6-FB30-FCB5-465C0899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016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19B53C-E7AA-5FD2-18D5-A0986852D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4945B-F26C-AF36-20F2-F2FA6348D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11D441-AAC9-74A1-BAD7-701A1797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4CA4CB-9C6C-0AFC-5323-23814974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A02F-464D-9BCA-8286-F440787B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026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556595-F609-1681-37D3-3196CFAE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2E8A4-D020-33B2-C899-22EE4C0D8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695E2-A25C-DE5E-8158-32DB6A423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49192-1CC1-684E-8106-9EEE8B368C56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6BE1AC-3F65-0FB3-F38E-D43E65B36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625AF-DBB4-DEA6-C6DB-9F41234B1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7DEF1-F69D-5447-A9FA-E206DE1994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627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BEE8E-E059-4436-0B4E-4DA72802C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430" y="1041400"/>
            <a:ext cx="11801139" cy="23876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4000" dirty="0">
                <a:latin typeface="BM DoHyeon OTF" panose="020B0600000101010101" pitchFamily="34" charset="-127"/>
                <a:ea typeface="BM DoHyeon OTF" panose="020B0600000101010101" pitchFamily="34" charset="-127"/>
              </a:rPr>
              <a:t>PINN (Variational method neural network)</a:t>
            </a:r>
            <a:br>
              <a:rPr kumimoji="1" lang="en-US" altLang="ko-KR" sz="4000" dirty="0">
                <a:latin typeface="BM DoHyeon OTF" panose="020B0600000101010101" pitchFamily="34" charset="-127"/>
                <a:ea typeface="BM DoHyeon OTF" panose="020B0600000101010101" pitchFamily="34" charset="-127"/>
              </a:rPr>
            </a:br>
            <a:br>
              <a:rPr kumimoji="1" lang="en-US" altLang="ko-KR" sz="4000" dirty="0">
                <a:latin typeface="BM DoHyeon OTF" panose="020B0600000101010101" pitchFamily="34" charset="-127"/>
                <a:ea typeface="BM DoHyeon OTF" panose="020B0600000101010101" pitchFamily="34" charset="-127"/>
              </a:rPr>
            </a:br>
            <a:r>
              <a:rPr kumimoji="1" lang="ko-KR" altLang="en-US" sz="4000" dirty="0">
                <a:latin typeface="BM DoHyeon OTF" panose="020B0600000101010101" pitchFamily="34" charset="-127"/>
                <a:ea typeface="BM DoHyeon OTF" panose="020B0600000101010101" pitchFamily="34" charset="-127"/>
              </a:rPr>
              <a:t>아이디어 소개</a:t>
            </a:r>
          </a:p>
        </p:txBody>
      </p:sp>
    </p:spTree>
    <p:extLst>
      <p:ext uri="{BB962C8B-B14F-4D97-AF65-F5344CB8AC3E}">
        <p14:creationId xmlns:p14="http://schemas.microsoft.com/office/powerpoint/2010/main" val="288454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F5C4-BA17-329A-B478-93FA44A2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6D01BE-9387-4848-078F-5DC6F76AA328}"/>
                  </a:ext>
                </a:extLst>
              </p:cNvPr>
              <p:cNvSpPr txBox="1"/>
              <p:nvPr/>
            </p:nvSpPr>
            <p:spPr>
              <a:xfrm>
                <a:off x="398034" y="1075765"/>
                <a:ext cx="11381590" cy="3506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최초 아이디어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: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1.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해밀토니안이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주어졌을 때 바닥상태와 바닥상태 에너지를 구하는 것은 주요한 과제이고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어려움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2.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이를 해결하기 위한 여러가지 방법이 있는데 그 중 하나가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ritz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의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변분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원리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𝛙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𝐭𝐫𝐢𝐚𝐥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</m:d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𝛙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𝐭𝐫𝐢𝐚𝐥</m:t>
                        </m:r>
                      </m:sub>
                    </m:sSub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≥</m:t>
                    </m:r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𝒈𝒔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)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3.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그러나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변분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원리는 시험함수를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“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임의로 잘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”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선정해야 하는 문제가 있고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  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적은 수의 변수만으로는 넓은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힐베르트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공간을 둘러보기에 턱없이 부족함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4.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인공신경망의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gradient descent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를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사용해서 시험함수를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다변수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함수로 만들고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  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최저점을 찾아보는 것은 어떨까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?</a:t>
                </a:r>
                <a:endParaRPr kumimoji="1" lang="ko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6D01BE-9387-4848-078F-5DC6F76AA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34" y="1075765"/>
                <a:ext cx="11381590" cy="3506986"/>
              </a:xfrm>
              <a:prstGeom prst="rect">
                <a:avLst/>
              </a:prstGeom>
              <a:blipFill>
                <a:blip r:embed="rId2"/>
                <a:stretch>
                  <a:fillRect l="-557" t="-722" b="-21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91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CFFC-F105-0C94-6A4C-0E30CE2D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6FE207-C2F2-151F-F65B-CBAFE7BF15A6}"/>
                  </a:ext>
                </a:extLst>
              </p:cNvPr>
              <p:cNvSpPr txBox="1"/>
              <p:nvPr/>
            </p:nvSpPr>
            <p:spPr>
              <a:xfrm>
                <a:off x="398034" y="1075765"/>
                <a:ext cx="11381590" cy="4224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아이디어 구현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342900" indent="-342900">
                  <a:buAutoNum type="arabicPeriod"/>
                </a:pP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파동함수의 여러 특성과 조건을 고려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다음과 같은 식의 꼴을 가정</a:t>
                </a: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𝛙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𝐭𝐫𝐢𝐚𝐥</m:t>
                        </m:r>
                      </m:sub>
                    </m:sSub>
                    <m:r>
                      <a:rPr kumimoji="1" lang="en-US" altLang="ko-KR" sz="2000" b="1" i="0" smtClean="0">
                        <a:latin typeface="Cambria Math" panose="02040503050406030204" pitchFamily="18" charset="0"/>
                        <a:ea typeface="Apple SD Gothic Neo" panose="02000300000000000000" pitchFamily="2" charset="-127"/>
                      </a:rPr>
                      <m:t>=</m:t>
                    </m:r>
                    <m:sSup>
                      <m:sSupPr>
                        <m:ctrlP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</m:ctrlPr>
                      </m:sSupPr>
                      <m:e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  <m:t>𝐞</m:t>
                        </m:r>
                      </m:e>
                      <m:sup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  <m:t>−</m:t>
                        </m:r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  <m:t>𝐚</m:t>
                        </m:r>
                        <m:sSup>
                          <m:sSupPr>
                            <m:ctrlPr>
                              <a:rPr kumimoji="1" lang="en-US" altLang="ko-KR" sz="2000" b="1" i="0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</m:ctrlPr>
                          </m:sSupPr>
                          <m:e>
                            <m:r>
                              <a:rPr kumimoji="1" lang="en-US" altLang="ko-KR" sz="2000" b="1" i="0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  <m:t>𝐱</m:t>
                            </m:r>
                          </m:e>
                          <m:sup>
                            <m:r>
                              <a:rPr kumimoji="1" lang="en-US" altLang="ko-KR" sz="2000" b="1" i="0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  <m:t>𝟐</m:t>
                            </m:r>
                          </m:sup>
                        </m:sSup>
                      </m:sup>
                    </m:sSup>
                    <m:r>
                      <a:rPr kumimoji="1" lang="en-US" altLang="ko-KR" sz="2000" b="1" i="0" smtClean="0">
                        <a:latin typeface="Cambria Math" panose="02040503050406030204" pitchFamily="18" charset="0"/>
                        <a:ea typeface="Apple SD Gothic Neo" panose="02000300000000000000" pitchFamily="2" charset="-127"/>
                      </a:rPr>
                      <m:t>∗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  <m:t>𝒏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  <m:t>𝑪</m:t>
                            </m:r>
                          </m:e>
                          <m:sub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  <m:t>𝒏</m:t>
                            </m:r>
                          </m:sub>
                        </m:s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Apple SD Gothic Neo" panose="02000300000000000000" pitchFamily="2" charset="-127"/>
                          </a:rPr>
                          <m:t>𝒄𝒐𝒔</m:t>
                        </m:r>
                        <m:d>
                          <m:dPr>
                            <m:ctrlP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</m:ctrlPr>
                          </m:dPr>
                          <m:e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Apple SD Gothic Neo" panose="02000300000000000000" pitchFamily="2" charset="-127"/>
                              </a:rPr>
                              <m:t>𝒏</m:t>
                            </m:r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𝒔𝒊𝒏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342900" indent="-342900">
                  <a:buAutoNum type="arabicPeriod"/>
                </a:pP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각 푸리에 계수와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지수함수 감쇠항의 계수를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output vector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로 하고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입력 벡터는 따로 없는 얕은 신경망을 구성한 후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loss function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𝛙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𝐭𝐫𝐢𝐚𝐥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</m:d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𝛙</m:t>
                        </m:r>
                      </m:e>
                      <m:sub>
                        <m:r>
                          <a:rPr kumimoji="1" lang="en-US" altLang="ko-KR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𝐭𝐫𝐢𝐚𝐥</m:t>
                        </m:r>
                      </m:sub>
                    </m:sSub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로 설정하여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gradient descent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진행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342900" indent="-342900">
                  <a:buAutoNum type="arabicPeriod"/>
                </a:pP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이때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H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는 조화진동자를 사용하였으며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결과는 다음 장과 같음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6FE207-C2F2-151F-F65B-CBAFE7BF1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34" y="1075765"/>
                <a:ext cx="11381590" cy="4224618"/>
              </a:xfrm>
              <a:prstGeom prst="rect">
                <a:avLst/>
              </a:prstGeom>
              <a:blipFill>
                <a:blip r:embed="rId2"/>
                <a:stretch>
                  <a:fillRect l="-557" t="-5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611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FC41-16B5-DC8D-16B6-B25103CD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11F3E-7B6C-4A58-2777-4F4AA15FD753}"/>
              </a:ext>
            </a:extLst>
          </p:cNvPr>
          <p:cNvSpPr txBox="1"/>
          <p:nvPr/>
        </p:nvSpPr>
        <p:spPr>
          <a:xfrm>
            <a:off x="268942" y="3900135"/>
            <a:ext cx="113815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설정사항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조화진동자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활성함수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tanh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함수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 output size = 10,</a:t>
            </a: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n = 0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일때와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이때와의 내적이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0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인 함수 중 에너지가 가장 작은 함수를 찾는 방식으로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n=1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일때를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추측하는데 성공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단순하게 내적도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loss function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으로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두고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loss function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더했음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에너지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고윳값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오차율 각각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0.33%, 3.18% </a:t>
            </a: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670161-3664-7D64-0E29-E40BBE0A8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03" y="1005840"/>
            <a:ext cx="4038600" cy="24231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05C747-7766-5F16-8AA6-D0DD1E789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637" y="988645"/>
            <a:ext cx="4067258" cy="24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3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9088-C726-AC51-5A1A-2F076788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56876F-44DC-AE1A-9800-A7B68450962D}"/>
              </a:ext>
            </a:extLst>
          </p:cNvPr>
          <p:cNvSpPr txBox="1"/>
          <p:nvPr/>
        </p:nvSpPr>
        <p:spPr>
          <a:xfrm>
            <a:off x="405205" y="1178450"/>
            <a:ext cx="1138159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아이디어 발전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인공신경망을 사용하는 김에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input vector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도 쓸 수 있으면 좋겠다는 생각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해밀토니안을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입력받아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바닥상태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바닥상태 에너지를 출력하도록 만들어보자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H = T + V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인데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T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 고정이니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입력받자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2D, 3D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퍼텐셜로도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충분히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확장가능하지만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우선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1D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에서 검증해보자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V(x)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의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x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축을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적당한 길이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(-L~L)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에서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100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점으로 나누고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점에 해당하는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V(x)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np.array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만듬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</a:t>
            </a: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학습 데이터 확보를 위해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조화진동자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무한사각우물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유한사각우물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가우시안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우물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4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차 비조화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진동자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포텐셜에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랜덤한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parameter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들을 넣어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포텐셜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함수들을 생성하고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5.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과정을 거쳐 총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500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세트의 학습 데이터 생성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358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08D9-3F20-4A3B-9365-D19B4921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67ADF-E8CE-70C6-E423-37DA77BA73F9}"/>
              </a:ext>
            </a:extLst>
          </p:cNvPr>
          <p:cNvSpPr txBox="1"/>
          <p:nvPr/>
        </p:nvSpPr>
        <p:spPr>
          <a:xfrm>
            <a:off x="405205" y="952540"/>
            <a:ext cx="113815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아이디어 발전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–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문제점 발견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앞서 생성한 데이터를 바탕으로 학습 진행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무한우물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조화진동자에서는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11~12%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정도 오차율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그러나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유한우물에서 오차율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118%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62393E-ACD4-88E2-F130-7BE1C6E5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002" y="1997071"/>
            <a:ext cx="3804621" cy="21136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10E920-6833-92E8-FF58-A251D1026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10" y="2030944"/>
            <a:ext cx="3694467" cy="20564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3CFA81-AD92-9BC2-4F04-88C4F7D18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10" y="4738192"/>
            <a:ext cx="3804620" cy="211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97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82AA-53E6-E261-28C9-6ED89941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46B062-1D87-8DC5-ADA7-7C00E333B4B4}"/>
              </a:ext>
            </a:extLst>
          </p:cNvPr>
          <p:cNvSpPr txBox="1"/>
          <p:nvPr/>
        </p:nvSpPr>
        <p:spPr>
          <a:xfrm>
            <a:off x="405205" y="952540"/>
            <a:ext cx="113815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아이디어 발전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–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문제점 발견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예상되는 이유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손실함수는 모델이 예측한 값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–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실제값으로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만들어야 하는데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실제값을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구하는 것이 힘드므로 모델의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예측값만에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의존하였음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해밀토니안의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E_gs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큰 값임에도 불구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“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잘못된 결과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 인식하고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학습하다보니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낮은 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E_gs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갖는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대해서는 잘 되지만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반대의 경우에는 잘 학습되지 않는 것으로 추정됨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0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E27D-149F-D733-D5F8-B71DF22D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C62CBC-CBB0-13D0-E3A2-D1F5C03883EE}"/>
                  </a:ext>
                </a:extLst>
              </p:cNvPr>
              <p:cNvSpPr txBox="1"/>
              <p:nvPr/>
            </p:nvSpPr>
            <p:spPr>
              <a:xfrm>
                <a:off x="545054" y="513678"/>
                <a:ext cx="11381590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해결방안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457200" indent="-457200">
                  <a:buAutoNum type="arabicPeriod"/>
                </a:pP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손실함수를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(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예측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E_gs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–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실제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E_gs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)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로 만들기</a:t>
                </a: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문제점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: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이미 같은 기능을 하는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ai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는 시중에 나와있고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다량의 실제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E_gs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를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이용해서 학습을 시킴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Ritz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의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변분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원리처럼 수학적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/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기술적 방법론을 통해 실제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E_gs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를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계산하는 과정 없이 예측 가능한 모델을 구현하고 싶음</a:t>
                </a: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457200" indent="-457200">
                  <a:buFontTx/>
                  <a:buAutoNum type="arabicPeriod"/>
                </a:pP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고유상태라면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𝛙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𝛙</m:t>
                    </m:r>
                  </m:oMath>
                </a14:m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의 방향이 같다는 점을 이용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둘 사이의 코사인 값을 구하고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1 – cos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을 또 다른 손실함수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(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L_eig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)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로 사용하여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L_eig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+ w * </a:t>
                </a:r>
                <a:r>
                  <a:rPr kumimoji="1" lang="en-US" altLang="ko-KR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L_e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의 손실함수 꼴을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만들기</a:t>
                </a: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문제점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: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결과가 잘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안나옴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w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를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특정한 값을 주기도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학습이 지날수록 지수함수의 꼴로 커지게 만들어서 우선 고유상태부터 찾도록 하기도 해봤는데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둘다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잘 되지 않음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457200" indent="-457200">
                  <a:buFontTx/>
                  <a:buAutoNum type="arabicPeriod"/>
                </a:pP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r>
                  <a:rPr kumimoji="1" lang="en-US" altLang="ko-KR" sz="2000" b="1" dirty="0">
                    <a:ea typeface="Cambria Math" panose="02040503050406030204" pitchFamily="18" charset="0"/>
                  </a:rPr>
                  <a:t>3.   </a:t>
                </a:r>
                <a14:m>
                  <m:oMath xmlns:m="http://schemas.openxmlformats.org/officeDocument/2006/math"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𝛙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𝛙</m:t>
                    </m:r>
                  </m:oMath>
                </a14:m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</a:t>
                </a:r>
                <a:r>
                  <a:rPr kumimoji="1" lang="ko-KR" altLang="en-US" sz="2000" b="1" dirty="0" err="1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를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추가 손실함수로 삼기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, 2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번과 유사한 효과를 기대할 수 있을 것 같음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.</a:t>
                </a: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b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</a:b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      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문제점 </a:t>
                </a:r>
                <a:r>
                  <a:rPr kumimoji="1" lang="en-US" altLang="ko-KR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: </a:t>
                </a:r>
                <a:r>
                  <a:rPr kumimoji="1" lang="ko-KR" altLang="en-US" sz="2000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아직 시도해보지 않음</a:t>
                </a: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marL="457200" indent="-457200">
                  <a:buAutoNum type="arabicPeriod"/>
                </a:pPr>
                <a:endParaRPr kumimoji="1" lang="en-US" altLang="ko-KR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C62CBC-CBB0-13D0-E3A2-D1F5C0388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4" y="513678"/>
                <a:ext cx="11381590" cy="5324535"/>
              </a:xfrm>
              <a:prstGeom prst="rect">
                <a:avLst/>
              </a:prstGeom>
              <a:blipFill>
                <a:blip r:embed="rId2"/>
                <a:stretch>
                  <a:fillRect l="-557" t="-714" r="-3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01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8A02-2792-B427-48EF-3836A990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7A6F56-B57D-08D2-2DD2-FEECB7FE40A2}"/>
              </a:ext>
            </a:extLst>
          </p:cNvPr>
          <p:cNvSpPr txBox="1"/>
          <p:nvPr/>
        </p:nvSpPr>
        <p:spPr>
          <a:xfrm>
            <a:off x="545054" y="513678"/>
            <a:ext cx="11381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향후 계획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 안의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w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값을 더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디테일하게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설정해보기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 안 시도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그러나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 안과 큰 차이가 나지 않을 것 같음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Self-supervised learning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대해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공부중인데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적용가능성을 검토해보기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F4D04-B8B1-85AF-82E3-6B041200B5C5}"/>
              </a:ext>
            </a:extLst>
          </p:cNvPr>
          <p:cNvSpPr txBox="1"/>
          <p:nvPr/>
        </p:nvSpPr>
        <p:spPr>
          <a:xfrm>
            <a:off x="545054" y="3068223"/>
            <a:ext cx="1138159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확장 계획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같은 방식을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해밀토니안을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2D, 3D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대해서도 시도해볼 것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2D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이상의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대해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합성곱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신경망 등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computer vision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영역에 쓰이는 기술도 잘 적용되는지 검토해 볼 생각임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유명한 문제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수소 원자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해밀토니안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등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대해서도 검증해 볼 것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다체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문제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전자가 두개 이상 등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),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섭동 문제에 대해서도 범용적으로 활용할 수 있는 방안이 있는지 검토해볼 것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882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323CB-9800-C6EE-F29E-59596D2D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8BD8D-E28B-65F1-6B73-AB1A37A563F6}"/>
              </a:ext>
            </a:extLst>
          </p:cNvPr>
          <p:cNvSpPr txBox="1"/>
          <p:nvPr/>
        </p:nvSpPr>
        <p:spPr>
          <a:xfrm>
            <a:off x="545054" y="513678"/>
            <a:ext cx="113815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부록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현재 사용중인 파이썬 라이브러리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numpy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matplotlib</a:t>
            </a: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현재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1D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범용 모델 구조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b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input [200,0] </a:t>
            </a:r>
            <a:r>
              <a:rPr kumimoji="1" lang="en-US" altLang="ko-KR" sz="2000" b="1" dirty="0">
                <a:solidFill>
                  <a:srgbClr val="FF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hidden layer [128, 0] , [64, 0] , [64, 0] </a:t>
            </a:r>
            <a:r>
              <a:rPr kumimoji="1" lang="en-US" altLang="ko-KR" sz="2000" b="1" dirty="0">
                <a:solidFill>
                  <a:srgbClr val="FF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act 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ftn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“tanh” </a:t>
            </a:r>
            <a:r>
              <a:rPr kumimoji="1" lang="en-US" altLang="ko-KR" sz="2000" b="1" dirty="0">
                <a:solidFill>
                  <a:srgbClr val="FF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output [20,0]</a:t>
            </a: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Epoch : 100 , learning rate : 0.005, w : exp(</a:t>
            </a:r>
            <a:r>
              <a:rPr kumimoji="1" lang="en-US" altLang="ko-KR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now_epoch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– total epoch/2)</a:t>
            </a: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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무한우물 학습데이터에서 제거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  <a:sym typeface="Wingdings" pitchFamily="2" charset="2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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 조화진동자만 학습시켜서 </a:t>
            </a:r>
            <a:r>
              <a:rPr kumimoji="1" lang="ko-KR" altLang="en-US" sz="2000" b="1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유한우물 테스트하기 **</a:t>
            </a: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  <a:sym typeface="Wingdings" pitchFamily="2" charset="2"/>
            </a:endParaRPr>
          </a:p>
          <a:p>
            <a:pPr marL="457200" indent="-457200">
              <a:buAutoNum type="arabicPeriod"/>
            </a:pP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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 유한우물 바닥상태 </a:t>
            </a:r>
            <a:r>
              <a:rPr kumimoji="1" lang="ko-KR" altLang="en-US" sz="2000" b="1" dirty="0" err="1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함수값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(known) -&gt; 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지금 출력함수꼴에서 나와야 한 </a:t>
            </a:r>
            <a: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10</a:t>
            </a:r>
            <a:r>
              <a:rPr kumimoji="1" lang="ko-KR" altLang="en-US" sz="2000" b="1" dirty="0">
                <a:latin typeface="Apple SD Gothic Neo" panose="02000300000000000000" pitchFamily="2" charset="-127"/>
                <a:ea typeface="Apple SD Gothic Neo" panose="02000300000000000000" pitchFamily="2" charset="-127"/>
                <a:sym typeface="Wingdings" pitchFamily="2" charset="2"/>
              </a:rPr>
              <a:t>개 벡터 구하기</a:t>
            </a:r>
            <a:br>
              <a:rPr kumimoji="1" lang="en-US" altLang="ko-KR" sz="2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kumimoji="1" lang="en-US" altLang="ko-KR" sz="2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96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778</Words>
  <Application>Microsoft Macintosh PowerPoint</Application>
  <PresentationFormat>와이드스크린</PresentationFormat>
  <Paragraphs>89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Apple SD Gothic Neo</vt:lpstr>
      <vt:lpstr>BM DoHyeon OTF</vt:lpstr>
      <vt:lpstr>Arial</vt:lpstr>
      <vt:lpstr>Cambria Math</vt:lpstr>
      <vt:lpstr>Office 테마</vt:lpstr>
      <vt:lpstr>PINN (Variational method neural network)  아이디어 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송상혁</dc:creator>
  <cp:lastModifiedBy>송상혁</cp:lastModifiedBy>
  <cp:revision>4</cp:revision>
  <dcterms:created xsi:type="dcterms:W3CDTF">2026-08-27T07:06:38Z</dcterms:created>
  <dcterms:modified xsi:type="dcterms:W3CDTF">2026-09-09T08:04:47Z</dcterms:modified>
</cp:coreProperties>
</file>